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Belltown</c:v>
                  </c:pt>
                  <c:pt idx="1">
                    <c:v>Broadway</c:v>
                  </c:pt>
                  <c:pt idx="2">
                    <c:v>South Lake Union</c:v>
                  </c:pt>
                  <c:pt idx="3">
                    <c:v>Minor</c:v>
                  </c:pt>
                  <c:pt idx="4">
                    <c:v>Fremont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18.93</c:v>
                </c:pt>
                <c:pt idx="1">
                  <c:v>12.33</c:v>
                </c:pt>
                <c:pt idx="2">
                  <c:v>12.11</c:v>
                </c:pt>
                <c:pt idx="3">
                  <c:v>7.53</c:v>
                </c:pt>
                <c:pt idx="4">
                  <c:v>7.22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6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7DB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Industrial District</c:v>
                  </c:pt>
                  <c:pt idx="1">
                    <c:v>Windermere</c:v>
                  </c:pt>
                  <c:pt idx="2">
                    <c:v>Laurelhurst</c:v>
                  </c:pt>
                  <c:pt idx="3">
                    <c:v>Phinney Ridge</c:v>
                  </c:pt>
                  <c:pt idx="4">
                    <c:v>View Ridge</c:v>
                  </c:pt>
                  <c:pt idx="5">
                    <c:v>Riverview</c:v>
                  </c:pt>
                  <c:pt idx="6">
                    <c:v>Bitter Lake</c:v>
                  </c:pt>
                  <c:pt idx="7">
                    <c:v>Pinehurst</c:v>
                  </c:pt>
                  <c:pt idx="8">
                    <c:v>N. College Park</c:v>
                  </c:pt>
                  <c:pt idx="9">
                    <c:v>Crown Hill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625</c:v>
                </c:pt>
                <c:pt idx="1">
                  <c:v>511.67</c:v>
                </c:pt>
                <c:pt idx="2">
                  <c:v>344.05</c:v>
                </c:pt>
                <c:pt idx="3">
                  <c:v>303.93</c:v>
                </c:pt>
                <c:pt idx="4">
                  <c:v>302.86</c:v>
                </c:pt>
                <c:pt idx="5">
                  <c:v>137.5</c:v>
                </c:pt>
                <c:pt idx="6">
                  <c:v>136</c:v>
                </c:pt>
                <c:pt idx="7">
                  <c:v>133.21</c:v>
                </c:pt>
                <c:pt idx="8">
                  <c:v>130.66</c:v>
                </c:pt>
                <c:pt idx="9">
                  <c:v>129.21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000" u="none">
                  <a:solidFill>
                    <a:srgbClr val="1226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B6"/>
              </a:solidFill>
              <a:effectLst/>
            </c:spPr>
          </c:dPt>
          <c:dPt>
            <c:idx val="1"/>
            <c:bubble3D val="0"/>
            <c:spPr>
              <a:solidFill>
                <a:srgbClr val="E07A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Under $700/night</c:v>
                </c:pt>
                <c:pt idx="1">
                  <c:v>Above $700/night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170</c:v>
                </c:pt>
                <c:pt idx="1">
                  <c:v>39.6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Faith Faithful Usenideh  |  SQL Portfolio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2E"/>
                </a:solidFill>
              </a:rPr>
              <a:t>SQL PORTFOLIO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Where the Money Is in Seattle's Airbnb Market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0F8"/>
                </a:solidFill>
              </a:rPr>
              <a:t>Revenue and pricing analysis of 6,442 listings across 88 neighbourhoods, using Microsoft SQL Server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Faith Faithful Usenideh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Analyst  |  github.com/Faith-Faithful-usenideh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Every host asks the same question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Seattle has 6,442 Airbnb listings. Some earn millions; others struggle to compete. I used SQL to follow the money and find out why.</a:t>
            </a:r>
            <a:endParaRPr lang="en-US" sz="1300" dirty="0"/>
          </a:p>
        </p:txBody>
      </p:sp>
      <p:sp>
        <p:nvSpPr>
          <p:cNvPr id="4" name="Chapter 1 badge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does the money go?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Which neighbourhoods earn the most revenue</a:t>
            </a:r>
            <a:endParaRPr lang="en-US" sz="1600" dirty="0"/>
          </a:p>
        </p:txBody>
      </p:sp>
      <p:sp>
        <p:nvSpPr>
          <p:cNvPr id="7" name="Chapter 2 badge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can a host charge?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How prices change from one neighbourhood to the next</a:t>
            </a:r>
            <a:endParaRPr lang="en-US" sz="1600" dirty="0"/>
          </a:p>
        </p:txBody>
      </p:sp>
      <p:sp>
        <p:nvSpPr>
          <p:cNvPr id="10" name="Chapter 3 badge"/>
          <p:cNvSpPr/>
          <p:nvPr/>
        </p:nvSpPr>
        <p:spPr>
          <a:xfrm>
            <a:off x="457200" y="3520440"/>
            <a:ext cx="640080" cy="6400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74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 luxury worth it?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How much revenue really comes from $700+ stays</a:t>
            </a:r>
            <a:endParaRPr lang="en-US" sz="1600" dirty="0"/>
          </a:p>
        </p:txBody>
      </p:sp>
      <p:sp>
        <p:nvSpPr>
          <p:cNvPr id="13" name="Dataset card"/>
          <p:cNvSpPr/>
          <p:nvPr/>
        </p:nvSpPr>
        <p:spPr>
          <a:xfrm>
            <a:off x="5852160" y="109728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128016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E07A2E"/>
                </a:solidFill>
              </a:rPr>
              <a:t>THE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</a:rPr>
              <a:t>6,442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F0F8"/>
                </a:solidFill>
              </a:rPr>
              <a:t>active Seattle listings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FFFFFF"/>
                </a:solidFill>
              </a:rPr>
              <a:t>88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F0F8"/>
                </a:solidFill>
              </a:rPr>
              <a:t>neighbourhoods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Tables: AirbnbListings, AirbnbPricing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Follow the money: Belltown leads with $18.9M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HOW I FOUND IT</a:t>
            </a:r>
            <a:endParaRPr lang="en-US" sz="1000" dirty="0"/>
          </a:p>
        </p:txBody>
      </p:sp>
      <p:sp>
        <p:nvSpPr>
          <p:cNvPr id="4" name="Code panel"/>
          <p:cNvSpPr/>
          <p:nvPr/>
        </p:nvSpPr>
        <p:spPr>
          <a:xfrm>
            <a:off x="457200" y="123444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5" name="SQL code"/>
          <p:cNvSpPr txBox="1"/>
          <p:nvPr/>
        </p:nvSpPr>
        <p:spPr>
          <a:xfrm>
            <a:off x="594360" y="1325880"/>
            <a:ext cx="3931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ListingRevenue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listing_id,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SUM(CAST(REPLACE(REPLACE(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CAST(price AS VARCHAR(20)),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'$',''),',','') AS DECIMAL(12,2)))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AirbnbPricing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listing_id)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TOP 5 l.neighbourhood,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SUM(r.Revenue) AS Total_Revenue,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ROUND(AVG(l.price),2) AS Avg_Price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AirbnbListings 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ListingRevenue 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l.id = r.listing_id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l.neighbourhood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960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TOP 5 NEIGHBOURHOODS BY REVENUE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46320" y="118872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Insight card"/>
          <p:cNvSpPr/>
          <p:nvPr/>
        </p:nvSpPr>
        <p:spPr>
          <a:xfrm>
            <a:off x="4937760" y="33375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3410712"/>
            <a:ext cx="3474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it means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Belltown is not the most expensive area, at $235.59 a night. It wins on steady demand and many active listings. Volume beats price.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Same city, different price: $625 vs $129 a night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HOW I FOUND IT</a:t>
            </a:r>
            <a:endParaRPr lang="en-US" sz="1000" dirty="0"/>
          </a:p>
        </p:txBody>
      </p:sp>
      <p:sp>
        <p:nvSpPr>
          <p:cNvPr id="4" name="Code panel"/>
          <p:cNvSpPr/>
          <p:nvPr/>
        </p:nvSpPr>
        <p:spPr>
          <a:xfrm>
            <a:off x="457200" y="12344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5" name="SQL code"/>
          <p:cNvSpPr txBox="1"/>
          <p:nvPr/>
        </p:nvSpPr>
        <p:spPr>
          <a:xfrm>
            <a:off x="594360" y="13258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neighbourhood,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ROUND(AVG(price),2)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Average_Listing_Price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AirbnbListings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price IS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neighbourhood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Average_Listing_Price DESC;</a:t>
            </a:r>
            <a:endParaRPr lang="en-US" sz="1000" dirty="0"/>
          </a:p>
        </p:txBody>
      </p:sp>
      <p:sp>
        <p:nvSpPr>
          <p:cNvPr id="6" name="Insight card"/>
          <p:cNvSpPr/>
          <p:nvPr/>
        </p:nvSpPr>
        <p:spPr>
          <a:xfrm>
            <a:off x="457200" y="33832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456432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it means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few miles change the price almost fivefold. A city-wide average misleads; hosts must price against their own neighbourhood.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960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MOST VS LEAST EXPENSIVE NEIGHBOURHOODS ($/NIGHT)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31920" y="1188720"/>
          <a:ext cx="4846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surprise: luxury is not where the money 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HOW I FOUND IT</a:t>
            </a:r>
            <a:endParaRPr lang="en-US" sz="1000" dirty="0"/>
          </a:p>
        </p:txBody>
      </p:sp>
      <p:sp>
        <p:nvSpPr>
          <p:cNvPr id="4" name="Code panel"/>
          <p:cNvSpPr/>
          <p:nvPr/>
        </p:nvSpPr>
        <p:spPr>
          <a:xfrm>
            <a:off x="457200" y="12344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5" name="SQL code"/>
          <p:cNvSpPr txBox="1"/>
          <p:nvPr/>
        </p:nvSpPr>
        <p:spPr>
          <a:xfrm>
            <a:off x="594360" y="13258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SUM(CAST(REPLACE(REPLACE(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price,'$',''),',','')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DECIMAL(10,2)))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Total_Revenue_Above_700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AirbnbPricing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CAST(REPLACE(REPLACE(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price,'$',''),',','')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DECIMAL(10,2)) &gt; 700;</a:t>
            </a:r>
            <a:endParaRPr lang="en-US" sz="1000" dirty="0"/>
          </a:p>
        </p:txBody>
      </p:sp>
      <p:sp>
        <p:nvSpPr>
          <p:cNvPr id="6" name="Insight card"/>
          <p:cNvSpPr/>
          <p:nvPr/>
        </p:nvSpPr>
        <p:spPr>
          <a:xfrm>
            <a:off x="457200" y="338328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456432"/>
            <a:ext cx="3931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Data cleaning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Prices were stored as text such as '$1,250'. REPLACE removes the $ and commas, and CAST turns the text into a number before summing.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846320" y="1005840"/>
          <a:ext cx="2103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040880" y="118872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$39.6M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listings above $700 (19%)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$170.0M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listings under $700 (81%)</a:t>
            </a:r>
            <a:endParaRPr lang="en-US" sz="2800" dirty="0"/>
          </a:p>
        </p:txBody>
      </p:sp>
      <p:sp>
        <p:nvSpPr>
          <p:cNvPr id="10" name="Insight card"/>
          <p:cNvSpPr/>
          <p:nvPr/>
        </p:nvSpPr>
        <p:spPr>
          <a:xfrm>
            <a:off x="4937760" y="338328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3456432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it means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Four of every five dollars come from everyday listings. The market rewards affordable, well-booked homes, not luxury.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I did it: my SQL toolkit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Tools: Microsoft SQL Server Management Studio (SSMS) for writing and running queries · PowerPoint for presenting results</a:t>
            </a:r>
            <a:endParaRPr lang="en-US" sz="1200" dirty="0"/>
          </a:p>
        </p:txBody>
      </p:sp>
      <p:graphicFrame>
        <p:nvGraphicFramePr>
          <p:cNvPr id="7" name="SQL fun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 in this analysis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Used to find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... FROM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Chooses the columns to show and the table to read from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All findings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 (CTE)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Builds a temporary table of revenue per listing before joining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 ... 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Links each listing to its pricing records by listing ID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Adds prices together to calculate total revenue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luxury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AVG()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Calculates the average listing price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price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ROUND(x, 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Rounds results to two decimal places for easy reading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price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Removes the $ sign and commas from text prices like '$1,250'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luxury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CAST(... AS DECIMAL)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Converts cleaned text into a number so it can be summed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luxury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Filters rows: drops missing prices, keeps prices above $700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Price, luxury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 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Groups rows so there is one result per neighbourhood or listing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price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BY ... DESC / TOP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Ranks results from highest to lowest and keeps the top 5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63F"/>
                          </a:solidFill>
                        </a:rPr>
                        <a:t>Revenue, price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this means for hosts and investors</a:t>
            </a:r>
            <a:endParaRPr lang="en-US" sz="2600" dirty="0"/>
          </a:p>
        </p:txBody>
      </p:sp>
      <p:sp>
        <p:nvSpPr>
          <p:cNvPr id="3" name="Recommendation 1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Invest where demand is steady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Belltown, Broadway and South Lake Union combine high demand with many active listings, making them the strongest revenue markets.</a:t>
            </a:r>
            <a:endParaRPr lang="en-US" sz="1700" dirty="0"/>
          </a:p>
        </p:txBody>
      </p:sp>
      <p:sp>
        <p:nvSpPr>
          <p:cNvPr id="7" name="Recommendation 2"/>
          <p:cNvSpPr/>
          <p:nvPr/>
        </p:nvSpPr>
        <p:spPr>
          <a:xfrm>
            <a:off x="32918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Price by neighbourhood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With a 4.8× price gap across the city, set nightly rates against local averages rather than one city-wide figure.</a:t>
            </a:r>
            <a:endParaRPr lang="en-US" sz="1700" dirty="0"/>
          </a:p>
        </p:txBody>
      </p:sp>
      <p:sp>
        <p:nvSpPr>
          <p:cNvPr id="11" name="Recommendation 3"/>
          <p:cNvSpPr/>
          <p:nvPr/>
        </p:nvSpPr>
        <p:spPr>
          <a:xfrm>
            <a:off x="612648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325880"/>
            <a:ext cx="548640" cy="5486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0574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Compete on occupancy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Most revenue comes from listings under $700. Consistent bookings at competitive prices beat waiting for luxury guests.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money in Seattle's Airbnb market follows location and steady bookings, not luxury prices.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2E"/>
                </a:solidFill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F0F8"/>
                </a:solidFill>
              </a:rPr>
              <a:t>Faith Faithful Usenideh  |  Data Analyst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F0F8"/>
                </a:solidFill>
              </a:rPr>
              <a:t>usfaith822@gmail.com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F0F8"/>
                </a:solidFill>
              </a:rPr>
              <a:t>github.com/Faith-Faithful-usenideh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ttle Airbnb">
  <a:themeElements>
    <a:clrScheme name="Seattle Airbnb">
      <a:dk1>
        <a:srgbClr val="12263F"/>
      </a:dk1>
      <a:lt1>
        <a:srgbClr val="FFFFFF"/>
      </a:lt1>
      <a:dk2>
        <a:srgbClr val="3A4A5E"/>
      </a:dk2>
      <a:lt2>
        <a:srgbClr val="E8F0F8"/>
      </a:lt2>
      <a:accent1>
        <a:srgbClr val="12263F"/>
      </a:accent1>
      <a:accent2>
        <a:srgbClr val="E07A2E"/>
      </a:accent2>
      <a:accent3>
        <a:srgbClr val="2F7DB6"/>
      </a:accent3>
      <a:accent4>
        <a:srgbClr val="9BBBD9"/>
      </a:accent4>
      <a:accent5>
        <a:srgbClr val="C0392B"/>
      </a:accent5>
      <a:accent6>
        <a:srgbClr val="2E8B57"/>
      </a:accent6>
      <a:hlink>
        <a:srgbClr val="2F7DB6"/>
      </a:hlink>
      <a:folHlink>
        <a:srgbClr val="6B4C9A"/>
      </a:folHlink>
    </a:clrScheme>
    <a:fontScheme name="Seattle Airbn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Airbnb Revenue &amp; Pricing Analysis</dc:title>
  <dc:subject>PptxGenJS Presentation</dc:subject>
  <dc:creator>Faith Faithful Usenideh</dc:creator>
  <cp:lastModifiedBy>Faith Faithful Usenideh</cp:lastModifiedBy>
  <cp:revision>1</cp:revision>
  <dcterms:created xsi:type="dcterms:W3CDTF">2026-10-27T12:59:40Z</dcterms:created>
  <dcterms:modified xsi:type="dcterms:W3CDTF">2026-10-27T12:59:40Z</dcterms:modified>
</cp:coreProperties>
</file>